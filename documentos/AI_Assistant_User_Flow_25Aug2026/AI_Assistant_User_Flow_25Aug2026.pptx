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57"/>
    <p:restoredTop sz="94610"/>
  </p:normalViewPr>
  <p:slideViewPr>
    <p:cSldViewPr snapToGrid="0" snapToObjects="1">
      <p:cViewPr>
        <p:scale>
          <a:sx n="110" d="100"/>
          <a:sy n="110" d="100"/>
        </p:scale>
        <p:origin x="28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830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568F-CF16-3CE5-28B8-9CF5238C1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B75FCB-570B-3FF5-6770-E1920B6C8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8807A-3AD4-9CE2-A7C4-86027984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6973E-707B-BE15-61F7-949D445B0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C96E3-289F-1420-22A6-604DDA22C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AE41-E0A4-3925-B44D-EF7176CD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240BC-E1D3-0855-ED90-CD4A5A461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BFD89-60F1-1696-62E6-B2A9C150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42AED-9F0C-253F-FC20-98695EBC6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B41E7-A75E-BFF4-C6F6-12AE8FE2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255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4CD0-7C6A-B85A-3794-D96E60785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30C31-CC81-B15C-D90A-DAD23505C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D1902-CEB2-7648-9A3A-186A7B928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33F88-88E6-419D-D3A4-0610E446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943ED-A53D-74C8-AA66-89CE4567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2977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171E1-6413-44DA-536F-90E986BB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53AD7-1E94-B199-A30B-81A38DD35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257DE-D320-3F4D-4F8D-F53B09CB4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0E467-BCF5-FF17-B809-085895862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A9EF4-6E4F-44F0-BE9D-ABD131EF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146DD-630F-F972-73FB-0DD523781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5874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91543-E25B-9DFA-C49B-60995923F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0E07D-39E5-8735-48B0-D18C204CB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C0B95-7FC7-1653-49F5-736B19502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867599-88F9-D25D-752A-12CEF0B9D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96224-D911-6339-37E2-5F0D518454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78322-FF9B-B9E1-EA41-63C803EC6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FBA7D2-71D6-F8A4-7A36-8A6F143DA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5B4801-F02E-2C34-9707-63C7E4F23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8997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4035C-D804-4091-2CDC-C5154E49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2C341-9726-9D3D-AA8D-579BBA62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64092-D1FD-4489-B9D7-C5A741E5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2E108-D5CB-2BE4-A9EA-570DF0E05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374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555D73-2CE3-3CA1-7217-A14DFB69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39856B-643B-5948-9C13-C8C0B786B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463C7-CC29-F9F5-743C-50688E53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1678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00780-D96D-5806-B564-10BAF728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B2529-8962-A920-81FB-DAEF20214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D2F9EE-9DE9-BD55-400F-D5FDC40C2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00803-CA1C-1DF8-95CC-C685A01F8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2D85F-41AB-5EFC-03D8-58150FD4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79B55-0160-252C-9D2C-A08BD38F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434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48B5B-3BBB-9537-D138-FBB71FBAF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1C4B4C-96D5-00BE-BA8F-6E60DFF57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7CD02-342C-49D8-16CD-3D2EDA5BB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C0F4C-420F-8744-986F-D238F756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F1551-6ED1-AC07-7185-5CB75A85D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EF618-D311-539A-10AE-C1A1B0F4F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340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03F28-B856-C7AD-B3AE-4F4AD71F6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48AD7-7FF2-842E-042A-939A46AA6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1B305-D01B-208E-4818-93A97CD50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602E1-3CAF-CF78-3845-422511D83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146AC-8C9B-C3C3-9901-3C1F5545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837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03BFAE-25DA-F077-1CEC-EF74FBADC0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FFAA8-A45D-D2C2-7453-8B7E5E36E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05B93-EF2E-020F-850E-6D541312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7A4DC-8513-3563-E03B-D831F63F3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502CC-8D73-2623-2399-2EB12566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6216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515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14E821-ED89-6A49-5E13-DB8188099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B94A5-EEFA-9D42-79E5-140C2B8C5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A5BE6-87A6-19B9-827F-AAB4BC4F5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A95BE-6AE2-7B38-CF5C-CA89CFA01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BF825-5021-558C-6FE2-027A9FD4C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93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Curved Connector 159">
            <a:extLst>
              <a:ext uri="{FF2B5EF4-FFF2-40B4-BE49-F238E27FC236}">
                <a16:creationId xmlns:a16="http://schemas.microsoft.com/office/drawing/2014/main" id="{9686DE91-E0ED-A2AC-B9BC-7F2955393092}"/>
              </a:ext>
            </a:extLst>
          </p:cNvPr>
          <p:cNvCxnSpPr>
            <a:cxnSpLocks/>
            <a:stCxn id="154" idx="1"/>
            <a:endCxn id="19" idx="1"/>
          </p:cNvCxnSpPr>
          <p:nvPr/>
        </p:nvCxnSpPr>
        <p:spPr>
          <a:xfrm rot="10800000" flipH="1">
            <a:off x="1145233" y="942977"/>
            <a:ext cx="4518060" cy="3077661"/>
          </a:xfrm>
          <a:prstGeom prst="curvedConnector3">
            <a:avLst>
              <a:gd name="adj1" fmla="val -5060"/>
            </a:avLst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urved Connector 235">
            <a:extLst>
              <a:ext uri="{FF2B5EF4-FFF2-40B4-BE49-F238E27FC236}">
                <a16:creationId xmlns:a16="http://schemas.microsoft.com/office/drawing/2014/main" id="{4C3A90E5-CBEA-ABCC-4C83-20334B0FF3C0}"/>
              </a:ext>
            </a:extLst>
          </p:cNvPr>
          <p:cNvCxnSpPr>
            <a:cxnSpLocks/>
            <a:stCxn id="106" idx="2"/>
            <a:endCxn id="18" idx="3"/>
          </p:cNvCxnSpPr>
          <p:nvPr/>
        </p:nvCxnSpPr>
        <p:spPr>
          <a:xfrm rot="5400000" flipH="1" flipV="1">
            <a:off x="3577382" y="2778570"/>
            <a:ext cx="5195133" cy="1523945"/>
          </a:xfrm>
          <a:prstGeom prst="curvedConnector4">
            <a:avLst>
              <a:gd name="adj1" fmla="val -4400"/>
              <a:gd name="adj2" fmla="val 115001"/>
            </a:avLst>
          </a:prstGeom>
          <a:ln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urved Connector 239">
            <a:extLst>
              <a:ext uri="{FF2B5EF4-FFF2-40B4-BE49-F238E27FC236}">
                <a16:creationId xmlns:a16="http://schemas.microsoft.com/office/drawing/2014/main" id="{25BD8AF2-19EA-3201-B2CA-EE29528B4A0A}"/>
              </a:ext>
            </a:extLst>
          </p:cNvPr>
          <p:cNvCxnSpPr>
            <a:cxnSpLocks/>
            <a:stCxn id="125" idx="3"/>
            <a:endCxn id="18" idx="3"/>
          </p:cNvCxnSpPr>
          <p:nvPr/>
        </p:nvCxnSpPr>
        <p:spPr>
          <a:xfrm flipH="1" flipV="1">
            <a:off x="6936922" y="942976"/>
            <a:ext cx="1011066" cy="3945998"/>
          </a:xfrm>
          <a:prstGeom prst="curvedConnector3">
            <a:avLst>
              <a:gd name="adj1" fmla="val -22610"/>
            </a:avLst>
          </a:prstGeom>
          <a:ln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urved Connector 232">
            <a:extLst>
              <a:ext uri="{FF2B5EF4-FFF2-40B4-BE49-F238E27FC236}">
                <a16:creationId xmlns:a16="http://schemas.microsoft.com/office/drawing/2014/main" id="{40AEF678-0006-0D47-7901-8FC296A71D46}"/>
              </a:ext>
            </a:extLst>
          </p:cNvPr>
          <p:cNvCxnSpPr>
            <a:cxnSpLocks/>
            <a:stCxn id="77" idx="1"/>
            <a:endCxn id="18" idx="1"/>
          </p:cNvCxnSpPr>
          <p:nvPr/>
        </p:nvCxnSpPr>
        <p:spPr>
          <a:xfrm rot="10800000" flipH="1">
            <a:off x="2917153" y="942977"/>
            <a:ext cx="2746139" cy="4034173"/>
          </a:xfrm>
          <a:prstGeom prst="curvedConnector3">
            <a:avLst>
              <a:gd name="adj1" fmla="val -8324"/>
            </a:avLst>
          </a:prstGeom>
          <a:ln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Shape 40">
            <a:extLst>
              <a:ext uri="{FF2B5EF4-FFF2-40B4-BE49-F238E27FC236}">
                <a16:creationId xmlns:a16="http://schemas.microsoft.com/office/drawing/2014/main" id="{038FC8B2-D568-470F-D272-FBE6A2C1F61E}"/>
              </a:ext>
            </a:extLst>
          </p:cNvPr>
          <p:cNvSpPr/>
          <p:nvPr/>
        </p:nvSpPr>
        <p:spPr>
          <a:xfrm>
            <a:off x="7182813" y="2463065"/>
            <a:ext cx="2667794" cy="16417"/>
          </a:xfrm>
          <a:prstGeom prst="line">
            <a:avLst/>
          </a:prstGeom>
          <a:noFill/>
          <a:ln w="19050">
            <a:solidFill>
              <a:srgbClr val="F0596B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5" name="Shape 52">
            <a:extLst>
              <a:ext uri="{FF2B5EF4-FFF2-40B4-BE49-F238E27FC236}">
                <a16:creationId xmlns:a16="http://schemas.microsoft.com/office/drawing/2014/main" id="{1779A5BB-AD0D-6CA5-9091-1E61401F0694}"/>
              </a:ext>
            </a:extLst>
          </p:cNvPr>
          <p:cNvSpPr/>
          <p:nvPr/>
        </p:nvSpPr>
        <p:spPr>
          <a:xfrm>
            <a:off x="6282473" y="2620761"/>
            <a:ext cx="0" cy="275547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Text 0"/>
          <p:cNvSpPr/>
          <p:nvPr/>
        </p:nvSpPr>
        <p:spPr>
          <a:xfrm>
            <a:off x="1981200" y="156754"/>
            <a:ext cx="293914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89844"/>
            <a:r>
              <a:rPr lang="pt-BR" sz="536" kern="0" spc="107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FLOW DIAGRAM</a:t>
            </a:r>
            <a:endParaRPr lang="pt-BR" sz="536" dirty="0"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81200" y="293914"/>
            <a:ext cx="3918857" cy="195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89844"/>
            <a:r>
              <a:rPr lang="pt-BR" sz="1071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INT 5224 — AI </a:t>
            </a:r>
            <a:r>
              <a:rPr lang="pt-BR" sz="1071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pt-BR" sz="1071" dirty="0"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81200" y="480060"/>
            <a:ext cx="3918857" cy="127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89844"/>
            <a:r>
              <a:rPr lang="pt-BR" sz="536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 cuidado no processo de viver humano II · UFSC</a:t>
            </a:r>
            <a:endParaRPr lang="pt-BR" sz="536" dirty="0"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781800" y="284117"/>
            <a:ext cx="48986" cy="48986"/>
          </a:xfrm>
          <a:prstGeom prst="ellipse">
            <a:avLst/>
          </a:prstGeom>
          <a:solidFill>
            <a:srgbClr val="9C8CFF"/>
          </a:solidFill>
          <a:ln/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65076" y="244928"/>
            <a:ext cx="685800" cy="11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89844"/>
            <a:r>
              <a:rPr lang="pt-BR" sz="429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Entrada/Saída</a:t>
            </a:r>
            <a:endParaRPr lang="pt-BR" sz="429" dirty="0"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00980" y="284117"/>
            <a:ext cx="48986" cy="48986"/>
          </a:xfrm>
          <a:prstGeom prst="ellipse">
            <a:avLst/>
          </a:prstGeom>
          <a:solidFill>
            <a:srgbClr val="5B9CFF"/>
          </a:solidFill>
          <a:ln/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84255" y="244928"/>
            <a:ext cx="685800" cy="11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89844"/>
            <a:r>
              <a:rPr lang="pt-BR" sz="429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Processo</a:t>
            </a:r>
            <a:endParaRPr lang="pt-BR" sz="429" dirty="0"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868303" y="284117"/>
            <a:ext cx="48986" cy="48986"/>
          </a:xfrm>
          <a:prstGeom prst="ellipse">
            <a:avLst/>
          </a:prstGeom>
          <a:solidFill>
            <a:srgbClr val="3D7BFF"/>
          </a:solidFill>
          <a:ln/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51579" y="244928"/>
            <a:ext cx="685800" cy="11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89844"/>
            <a:r>
              <a:rPr lang="pt-BR" sz="429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Tarefa AI</a:t>
            </a:r>
            <a:endParaRPr lang="pt-BR" sz="429" dirty="0"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335627" y="284117"/>
            <a:ext cx="48986" cy="48986"/>
          </a:xfrm>
          <a:prstGeom prst="ellipse">
            <a:avLst/>
          </a:prstGeom>
          <a:solidFill>
            <a:srgbClr val="3ED598"/>
          </a:solidFill>
          <a:ln/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418903" y="244928"/>
            <a:ext cx="685800" cy="11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89844"/>
            <a:r>
              <a:rPr lang="pt-BR" sz="429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pt-BR" sz="429" dirty="0"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772580" y="284117"/>
            <a:ext cx="48986" cy="4898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855855" y="244928"/>
            <a:ext cx="685800" cy="11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89844"/>
            <a:r>
              <a:rPr lang="pt-BR" sz="429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Decisão</a:t>
            </a:r>
            <a:endParaRPr lang="pt-BR" sz="429" dirty="0"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270274" y="284117"/>
            <a:ext cx="48986" cy="48986"/>
          </a:xfrm>
          <a:prstGeom prst="ellipse">
            <a:avLst/>
          </a:prstGeom>
          <a:solidFill>
            <a:srgbClr val="F0596B"/>
          </a:solidFill>
          <a:ln/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353550" y="244928"/>
            <a:ext cx="685800" cy="11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89844"/>
            <a:r>
              <a:rPr lang="pt-BR" sz="429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Contenção</a:t>
            </a:r>
            <a:endParaRPr lang="pt-BR" sz="429" dirty="0"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981200" y="661307"/>
            <a:ext cx="8229600" cy="0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non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63293" y="808265"/>
            <a:ext cx="1273629" cy="269421"/>
          </a:xfrm>
          <a:prstGeom prst="roundRect">
            <a:avLst>
              <a:gd name="adj" fmla="val 49091"/>
            </a:avLst>
          </a:prstGeom>
          <a:solidFill>
            <a:srgbClr val="241C3D"/>
          </a:solidFill>
          <a:ln w="15875">
            <a:solidFill>
              <a:srgbClr val="9C8C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3293" y="808265"/>
            <a:ext cx="1273629" cy="269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643" b="1" dirty="0">
                <a:solidFill>
                  <a:srgbClr val="9C8CFF"/>
                </a:solidFill>
                <a:latin typeface="Arial" pitchFamily="34" charset="0"/>
                <a:cs typeface="Arial" pitchFamily="34" charset="-120"/>
              </a:rPr>
              <a:t>Início da Sessão</a:t>
            </a:r>
            <a:endParaRPr lang="pt-BR" sz="64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00107" y="1077686"/>
            <a:ext cx="0" cy="171450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61264" y="1249136"/>
            <a:ext cx="1076400" cy="382089"/>
          </a:xfrm>
          <a:prstGeom prst="diamond">
            <a:avLst/>
          </a:prstGeom>
          <a:solidFill>
            <a:srgbClr val="241A0C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39464" y="1308195"/>
            <a:ext cx="72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09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Visita?</a:t>
            </a:r>
            <a:endParaRPr lang="pt-BR" sz="5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12592" y="1377515"/>
            <a:ext cx="78377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489844"/>
            <a:r>
              <a:rPr lang="pt-BR" sz="455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Primeira vez</a:t>
            </a:r>
            <a:endParaRPr lang="pt-BR" sz="45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279822" y="1348939"/>
            <a:ext cx="78377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89844"/>
            <a:r>
              <a:rPr lang="pt-BR" sz="455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Retornando</a:t>
            </a:r>
            <a:endParaRPr lang="pt-BR" sz="45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369378" y="1440180"/>
            <a:ext cx="391886" cy="0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non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 flipH="1">
            <a:off x="5368092" y="1440180"/>
            <a:ext cx="1287" cy="288603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838950" y="1440180"/>
            <a:ext cx="391886" cy="0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non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230836" y="1440180"/>
            <a:ext cx="0" cy="288608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32564" y="1728788"/>
            <a:ext cx="1273629" cy="293914"/>
          </a:xfrm>
          <a:prstGeom prst="roundRect">
            <a:avLst>
              <a:gd name="adj" fmla="val 11667"/>
            </a:avLst>
          </a:prstGeom>
          <a:solidFill>
            <a:srgbClr val="141C2E"/>
          </a:solidFill>
          <a:ln w="15875">
            <a:solidFill>
              <a:srgbClr val="5B9C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781550" y="1777774"/>
            <a:ext cx="1175657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89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Completo</a:t>
            </a:r>
            <a:endParaRPr lang="pt-BR" sz="5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71753" y="1934528"/>
            <a:ext cx="1195251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· 4 opções · Instruções</a:t>
            </a:r>
            <a:endParaRPr lang="pt-BR" sz="42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94021" y="1728788"/>
            <a:ext cx="1273629" cy="293914"/>
          </a:xfrm>
          <a:prstGeom prst="roundRect">
            <a:avLst>
              <a:gd name="adj" fmla="val 11667"/>
            </a:avLst>
          </a:prstGeom>
          <a:solidFill>
            <a:srgbClr val="141C2E"/>
          </a:solidFill>
          <a:ln w="15875">
            <a:solidFill>
              <a:srgbClr val="5B9C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643007" y="1777774"/>
            <a:ext cx="1175657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89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Breve</a:t>
            </a:r>
            <a:endParaRPr lang="pt-BR" sz="5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33210" y="1934528"/>
            <a:ext cx="1195251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Saudação de retorno · Instruções </a:t>
            </a:r>
            <a:endParaRPr lang="pt-BR" sz="42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368092" y="2032695"/>
            <a:ext cx="1287" cy="161866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230836" y="2032695"/>
            <a:ext cx="0" cy="161866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369379" y="2194560"/>
            <a:ext cx="1861457" cy="0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non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300107" y="2194560"/>
            <a:ext cx="0" cy="117566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419327" y="2317050"/>
            <a:ext cx="1763486" cy="303711"/>
          </a:xfrm>
          <a:prstGeom prst="roundRect">
            <a:avLst>
              <a:gd name="adj" fmla="val 11290"/>
            </a:avLst>
          </a:prstGeom>
          <a:solidFill>
            <a:srgbClr val="0E2A1F"/>
          </a:solidFill>
          <a:ln w="19050">
            <a:solidFill>
              <a:srgbClr val="3ED598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419327" y="2346441"/>
            <a:ext cx="1763486" cy="146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696" b="1" dirty="0">
                <a:solidFill>
                  <a:srgbClr val="3ED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Principal</a:t>
            </a:r>
            <a:endParaRPr lang="pt-BR" sz="69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420290" y="2457382"/>
            <a:ext cx="1763486" cy="107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455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livres são aceitas a qualquer momento</a:t>
            </a:r>
            <a:endParaRPr lang="pt-BR" sz="45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 flipH="1" flipV="1">
            <a:off x="7182813" y="2570834"/>
            <a:ext cx="2652087" cy="301986"/>
          </a:xfrm>
          <a:prstGeom prst="line">
            <a:avLst/>
          </a:prstGeom>
          <a:noFill/>
          <a:ln w="19050">
            <a:solidFill>
              <a:srgbClr val="F0596B"/>
            </a:solidFill>
            <a:prstDash val="dash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201521" y="2358856"/>
            <a:ext cx="2571750" cy="11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402" dirty="0">
                <a:solidFill>
                  <a:srgbClr val="F05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Fora de escopo / Violação de princípios éticos e morais</a:t>
            </a:r>
            <a:endParaRPr lang="pt-BR" sz="40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851571" y="2282735"/>
            <a:ext cx="1273629" cy="303711"/>
          </a:xfrm>
          <a:prstGeom prst="roundRect">
            <a:avLst>
              <a:gd name="adj" fmla="val 11290"/>
            </a:avLst>
          </a:prstGeom>
          <a:solidFill>
            <a:srgbClr val="2A1418"/>
          </a:solidFill>
          <a:ln w="19050">
            <a:solidFill>
              <a:srgbClr val="F0596B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851571" y="2312126"/>
            <a:ext cx="127362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643" b="1" dirty="0">
                <a:solidFill>
                  <a:srgbClr val="F05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Contenções</a:t>
            </a:r>
            <a:endParaRPr lang="pt-BR" sz="64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851571" y="2459083"/>
            <a:ext cx="1273629" cy="107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455" dirty="0">
                <a:solidFill>
                  <a:srgbClr val="E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· Ética · Segurança</a:t>
            </a:r>
            <a:endParaRPr lang="pt-BR" sz="45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0488386" y="2586446"/>
            <a:ext cx="0" cy="137160"/>
          </a:xfrm>
          <a:prstGeom prst="line">
            <a:avLst/>
          </a:prstGeom>
          <a:noFill/>
          <a:ln w="19050">
            <a:solidFill>
              <a:srgbClr val="F0596B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851571" y="2723606"/>
            <a:ext cx="1273629" cy="284117"/>
          </a:xfrm>
          <a:prstGeom prst="roundRect">
            <a:avLst>
              <a:gd name="adj" fmla="val 12069"/>
            </a:avLst>
          </a:prstGeom>
          <a:solidFill>
            <a:srgbClr val="2A1418"/>
          </a:solidFill>
          <a:ln w="19050">
            <a:solidFill>
              <a:srgbClr val="F0596B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851571" y="2752997"/>
            <a:ext cx="1273629" cy="127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616" b="1" dirty="0">
                <a:solidFill>
                  <a:srgbClr val="F05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Recusa +  Redirecionamento</a:t>
            </a:r>
            <a:endParaRPr lang="pt-BR" sz="61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851571" y="2880360"/>
            <a:ext cx="1273629" cy="107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429" dirty="0">
                <a:solidFill>
                  <a:srgbClr val="E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recusa padrão</a:t>
            </a:r>
            <a:endParaRPr lang="pt-BR" sz="42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673984" y="2900154"/>
            <a:ext cx="2608489" cy="0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non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673984" y="2900154"/>
            <a:ext cx="0" cy="244929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412977" y="2900154"/>
            <a:ext cx="869496" cy="0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non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412977" y="2900154"/>
            <a:ext cx="0" cy="244929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282473" y="2900154"/>
            <a:ext cx="869496" cy="0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non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151970" y="2900154"/>
            <a:ext cx="0" cy="244929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282473" y="2900154"/>
            <a:ext cx="2608489" cy="0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non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890962" y="2900154"/>
            <a:ext cx="0" cy="244929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2877966" y="3145082"/>
            <a:ext cx="1592036" cy="24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670" b="1" dirty="0">
                <a:solidFill>
                  <a:srgbClr val="5B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Resumo de Conteúdo</a:t>
            </a:r>
            <a:endParaRPr lang="pt-BR" sz="6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2877966" y="3414504"/>
            <a:ext cx="1592036" cy="303711"/>
          </a:xfrm>
          <a:prstGeom prst="roundRect">
            <a:avLst>
              <a:gd name="adj" fmla="val 11290"/>
            </a:avLst>
          </a:prstGeom>
          <a:solidFill>
            <a:srgbClr val="141C2E"/>
          </a:solidFill>
          <a:ln w="15875">
            <a:solidFill>
              <a:srgbClr val="5B9C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2926952" y="3463490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62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Solicitar Tema, caso não explícito</a:t>
            </a:r>
            <a:endParaRPr lang="pt-BR" sz="56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2917154" y="3620244"/>
            <a:ext cx="1513659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Controle de infecção · Suturas</a:t>
            </a:r>
            <a:endParaRPr lang="pt-BR" sz="42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3673984" y="3718215"/>
            <a:ext cx="0" cy="107769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2877966" y="3825984"/>
            <a:ext cx="1592036" cy="352697"/>
          </a:xfrm>
          <a:prstGeom prst="diamond">
            <a:avLst/>
          </a:prstGeom>
          <a:solidFill>
            <a:srgbClr val="241A0C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3311083" y="3877696"/>
            <a:ext cx="72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09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Válida?</a:t>
            </a:r>
            <a:endParaRPr lang="pt-BR" sz="5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2797140" y="3686857"/>
            <a:ext cx="535984" cy="32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348" dirty="0">
                <a:solidFill>
                  <a:srgbClr val="C98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inválido → refinar</a:t>
            </a:r>
            <a:endParaRPr lang="pt-BR" sz="34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3673984" y="4178681"/>
            <a:ext cx="0" cy="107769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797140" y="4002332"/>
            <a:ext cx="80826" cy="0"/>
          </a:xfrm>
          <a:prstGeom prst="line">
            <a:avLst/>
          </a:prstGeom>
          <a:noFill/>
          <a:ln w="15875">
            <a:solidFill>
              <a:srgbClr val="F5A623"/>
            </a:solidFill>
            <a:prstDash val="dash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Shape 67"/>
          <p:cNvSpPr/>
          <p:nvPr/>
        </p:nvSpPr>
        <p:spPr>
          <a:xfrm flipV="1">
            <a:off x="2797140" y="3718215"/>
            <a:ext cx="0" cy="284117"/>
          </a:xfrm>
          <a:prstGeom prst="line">
            <a:avLst/>
          </a:prstGeom>
          <a:noFill/>
          <a:ln w="15875">
            <a:solidFill>
              <a:srgbClr val="F5A623"/>
            </a:solidFill>
            <a:prstDash val="dash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2797140" y="3718215"/>
            <a:ext cx="80826" cy="0"/>
          </a:xfrm>
          <a:prstGeom prst="line">
            <a:avLst/>
          </a:prstGeom>
          <a:noFill/>
          <a:ln w="15875">
            <a:solidFill>
              <a:srgbClr val="F5A623"/>
            </a:solidFill>
            <a:prstDash val="dash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2877966" y="4286450"/>
            <a:ext cx="1592036" cy="303711"/>
          </a:xfrm>
          <a:prstGeom prst="roundRect">
            <a:avLst>
              <a:gd name="adj" fmla="val 11290"/>
            </a:avLst>
          </a:prstGeom>
          <a:solidFill>
            <a:srgbClr val="141C2E"/>
          </a:solidFill>
          <a:ln w="15875">
            <a:solidFill>
              <a:srgbClr val="3D7B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2926952" y="4335435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62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Resumo</a:t>
            </a:r>
            <a:endParaRPr lang="pt-BR" sz="56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2917154" y="4492190"/>
            <a:ext cx="1513659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padrão · Conteúdo detalhado</a:t>
            </a:r>
            <a:endParaRPr lang="pt-BR" sz="42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3673984" y="4590161"/>
            <a:ext cx="0" cy="107769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877966" y="4697929"/>
            <a:ext cx="1592036" cy="382089"/>
          </a:xfrm>
          <a:prstGeom prst="roundRect">
            <a:avLst>
              <a:gd name="adj" fmla="val 8974"/>
            </a:avLst>
          </a:prstGeom>
          <a:solidFill>
            <a:srgbClr val="141C2E"/>
          </a:solidFill>
          <a:ln w="15875">
            <a:solidFill>
              <a:srgbClr val="5B9C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926952" y="4746915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62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Opções Pós-Resumo</a:t>
            </a:r>
            <a:endParaRPr lang="pt-BR" sz="56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2917154" y="4903670"/>
            <a:ext cx="1513659" cy="146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Aprofundar · Novo tópico · Menu Principal · Encerrar</a:t>
            </a:r>
            <a:endParaRPr lang="pt-BR" sz="42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4616959" y="3145082"/>
            <a:ext cx="1592036" cy="24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670" b="1" dirty="0">
                <a:solidFill>
                  <a:srgbClr val="5B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Quiz da Disciplina</a:t>
            </a:r>
            <a:endParaRPr lang="pt-BR" sz="6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4616959" y="3414504"/>
            <a:ext cx="1592036" cy="303711"/>
          </a:xfrm>
          <a:prstGeom prst="roundRect">
            <a:avLst>
              <a:gd name="adj" fmla="val 11290"/>
            </a:avLst>
          </a:prstGeom>
          <a:solidFill>
            <a:srgbClr val="141C2E"/>
          </a:solidFill>
          <a:ln w="15875">
            <a:solidFill>
              <a:srgbClr val="5B9C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665945" y="3463490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62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Solicitar Tema, caso não explícito</a:t>
            </a:r>
            <a:endParaRPr lang="pt-BR" sz="56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4656147" y="3620244"/>
            <a:ext cx="1513659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Hemostasia · Estomas · Cirurgia</a:t>
            </a:r>
            <a:endParaRPr lang="pt-BR" sz="42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5412977" y="3718215"/>
            <a:ext cx="0" cy="107769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4616959" y="3825984"/>
            <a:ext cx="1592036" cy="352697"/>
          </a:xfrm>
          <a:prstGeom prst="diamond">
            <a:avLst/>
          </a:prstGeom>
          <a:solidFill>
            <a:srgbClr val="241A0C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5046979" y="3875786"/>
            <a:ext cx="72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09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Válida?</a:t>
            </a:r>
            <a:endParaRPr lang="pt-BR" sz="509" dirty="0">
              <a:solidFill>
                <a:prstClr val="black"/>
              </a:solidFill>
            </a:endParaRPr>
          </a:p>
        </p:txBody>
      </p:sp>
      <p:sp>
        <p:nvSpPr>
          <p:cNvPr id="85" name="Text 83"/>
          <p:cNvSpPr/>
          <p:nvPr/>
        </p:nvSpPr>
        <p:spPr>
          <a:xfrm>
            <a:off x="3995874" y="3706167"/>
            <a:ext cx="565023" cy="30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348" dirty="0">
                <a:solidFill>
                  <a:srgbClr val="C98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inválido → refinar</a:t>
            </a:r>
            <a:endParaRPr lang="pt-BR" sz="348" dirty="0">
              <a:solidFill>
                <a:prstClr val="black"/>
              </a:solidFill>
            </a:endParaRPr>
          </a:p>
        </p:txBody>
      </p:sp>
      <p:sp>
        <p:nvSpPr>
          <p:cNvPr id="86" name="Shape 84"/>
          <p:cNvSpPr/>
          <p:nvPr/>
        </p:nvSpPr>
        <p:spPr>
          <a:xfrm>
            <a:off x="5412977" y="4178681"/>
            <a:ext cx="0" cy="107769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4536133" y="4002332"/>
            <a:ext cx="80826" cy="0"/>
          </a:xfrm>
          <a:prstGeom prst="line">
            <a:avLst/>
          </a:prstGeom>
          <a:noFill/>
          <a:ln w="15875">
            <a:solidFill>
              <a:srgbClr val="F5A623"/>
            </a:solidFill>
            <a:prstDash val="dash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8" name="Shape 86"/>
          <p:cNvSpPr/>
          <p:nvPr/>
        </p:nvSpPr>
        <p:spPr>
          <a:xfrm flipV="1">
            <a:off x="4536132" y="3718215"/>
            <a:ext cx="0" cy="284117"/>
          </a:xfrm>
          <a:prstGeom prst="line">
            <a:avLst/>
          </a:prstGeom>
          <a:noFill/>
          <a:ln w="15875">
            <a:solidFill>
              <a:srgbClr val="F5A623"/>
            </a:solidFill>
            <a:prstDash val="dash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4536133" y="3718215"/>
            <a:ext cx="80826" cy="0"/>
          </a:xfrm>
          <a:prstGeom prst="line">
            <a:avLst/>
          </a:prstGeom>
          <a:noFill/>
          <a:ln w="15875">
            <a:solidFill>
              <a:srgbClr val="F5A623"/>
            </a:solidFill>
            <a:prstDash val="dash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4616959" y="4286450"/>
            <a:ext cx="1592036" cy="303711"/>
          </a:xfrm>
          <a:prstGeom prst="roundRect">
            <a:avLst>
              <a:gd name="adj" fmla="val 11290"/>
            </a:avLst>
          </a:prstGeom>
          <a:solidFill>
            <a:srgbClr val="141C2E"/>
          </a:solidFill>
          <a:ln w="15875">
            <a:solidFill>
              <a:srgbClr val="3D7B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4665945" y="4335435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62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3 Questões</a:t>
            </a:r>
            <a:endParaRPr lang="pt-BR" sz="56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4656147" y="4492190"/>
            <a:ext cx="1513659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níveis de dificuldades</a:t>
            </a:r>
            <a:endParaRPr lang="pt-BR" sz="42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5412977" y="4590161"/>
            <a:ext cx="0" cy="97971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4616959" y="4688132"/>
            <a:ext cx="1592036" cy="274320"/>
          </a:xfrm>
          <a:prstGeom prst="roundRect">
            <a:avLst>
              <a:gd name="adj" fmla="val 12500"/>
            </a:avLst>
          </a:prstGeom>
          <a:solidFill>
            <a:srgbClr val="141C2E"/>
          </a:solidFill>
          <a:ln w="15875">
            <a:solidFill>
              <a:srgbClr val="3ED598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4665945" y="4737118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09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→ Resposta → Feedback</a:t>
            </a:r>
            <a:endParaRPr lang="pt-BR" sz="5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4656147" y="4874139"/>
            <a:ext cx="1513659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tentativa, se incorreto</a:t>
            </a:r>
            <a:endParaRPr lang="pt-BR" sz="42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5412977" y="4962453"/>
            <a:ext cx="0" cy="88174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4616959" y="5050627"/>
            <a:ext cx="1592036" cy="274320"/>
          </a:xfrm>
          <a:prstGeom prst="roundRect">
            <a:avLst>
              <a:gd name="adj" fmla="val 12500"/>
            </a:avLst>
          </a:prstGeom>
          <a:solidFill>
            <a:srgbClr val="141C2E"/>
          </a:solidFill>
          <a:ln w="15875">
            <a:solidFill>
              <a:srgbClr val="3ED598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4665945" y="5099613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09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→ Resposta → Feedback</a:t>
            </a:r>
            <a:endParaRPr lang="pt-BR" sz="5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4656147" y="5236633"/>
            <a:ext cx="1513659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tentativa, se incorreto</a:t>
            </a:r>
            <a:endParaRPr lang="pt-BR" sz="429" dirty="0">
              <a:solidFill>
                <a:prstClr val="black"/>
              </a:solidFill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5412977" y="5324947"/>
            <a:ext cx="0" cy="88174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4616959" y="5413121"/>
            <a:ext cx="1592036" cy="274320"/>
          </a:xfrm>
          <a:prstGeom prst="roundRect">
            <a:avLst>
              <a:gd name="adj" fmla="val 12500"/>
            </a:avLst>
          </a:prstGeom>
          <a:solidFill>
            <a:srgbClr val="141C2E"/>
          </a:solidFill>
          <a:ln w="15875">
            <a:solidFill>
              <a:srgbClr val="3ED598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4665945" y="5462107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09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→ Resposta → Feedback</a:t>
            </a:r>
            <a:endParaRPr lang="pt-BR" sz="5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4656147" y="5599127"/>
            <a:ext cx="1513659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tentativa, se incorreto</a:t>
            </a:r>
            <a:endParaRPr lang="pt-BR" sz="429" dirty="0">
              <a:solidFill>
                <a:prstClr val="black"/>
              </a:solidFill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5412977" y="5687441"/>
            <a:ext cx="0" cy="88174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4616959" y="5775615"/>
            <a:ext cx="1592036" cy="362494"/>
          </a:xfrm>
          <a:prstGeom prst="roundRect">
            <a:avLst>
              <a:gd name="adj" fmla="val 9459"/>
            </a:avLst>
          </a:prstGeom>
          <a:solidFill>
            <a:srgbClr val="141C2E"/>
          </a:solidFill>
          <a:ln w="15875">
            <a:solidFill>
              <a:srgbClr val="5B9C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4665945" y="5824601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62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Opções Pós-Quiz</a:t>
            </a:r>
            <a:endParaRPr lang="pt-BR" sz="562" dirty="0">
              <a:solidFill>
                <a:prstClr val="black"/>
              </a:solidFill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4656147" y="5981355"/>
            <a:ext cx="1513659" cy="127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tópico · Menu Principal · Encerrar</a:t>
            </a:r>
            <a:endParaRPr lang="pt-BR" sz="429" dirty="0">
              <a:solidFill>
                <a:prstClr val="black"/>
              </a:solidFill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6355952" y="3145082"/>
            <a:ext cx="1592036" cy="24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616" b="1" dirty="0">
                <a:solidFill>
                  <a:srgbClr val="5B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Informações da Disciplina</a:t>
            </a:r>
            <a:endParaRPr lang="pt-BR" sz="61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6355952" y="3414504"/>
            <a:ext cx="1592036" cy="303711"/>
          </a:xfrm>
          <a:prstGeom prst="roundRect">
            <a:avLst>
              <a:gd name="adj" fmla="val 11290"/>
            </a:avLst>
          </a:prstGeom>
          <a:solidFill>
            <a:srgbClr val="141C2E"/>
          </a:solidFill>
          <a:ln w="15875">
            <a:solidFill>
              <a:srgbClr val="5B9C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6404938" y="3463490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62" b="1" dirty="0">
                <a:solidFill>
                  <a:srgbClr val="EAEEF7"/>
                </a:solidFill>
                <a:latin typeface="Arial" pitchFamily="34" charset="0"/>
                <a:cs typeface="Arial" pitchFamily="34" charset="-120"/>
              </a:rPr>
              <a:t>Solicitar Pergunta, caso não explícito</a:t>
            </a:r>
            <a:endParaRPr lang="pt-BR" sz="56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6395140" y="3620244"/>
            <a:ext cx="1513659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Calendário · Trabalhos</a:t>
            </a:r>
            <a:endParaRPr lang="pt-BR" sz="42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7151970" y="3718215"/>
            <a:ext cx="0" cy="107769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6355952" y="3825984"/>
            <a:ext cx="1592036" cy="352697"/>
          </a:xfrm>
          <a:prstGeom prst="diamond">
            <a:avLst/>
          </a:prstGeom>
          <a:solidFill>
            <a:srgbClr val="241A0C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6791969" y="3866164"/>
            <a:ext cx="72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09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Válida?</a:t>
            </a:r>
            <a:endParaRPr lang="pt-BR" sz="509" dirty="0">
              <a:solidFill>
                <a:prstClr val="black"/>
              </a:solidFill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5761092" y="3682692"/>
            <a:ext cx="509352" cy="352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348" dirty="0">
                <a:solidFill>
                  <a:srgbClr val="C98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inválido → refinar</a:t>
            </a:r>
            <a:endParaRPr lang="pt-BR" sz="348" dirty="0">
              <a:solidFill>
                <a:prstClr val="black"/>
              </a:solidFill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7151970" y="4178681"/>
            <a:ext cx="0" cy="107769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6275126" y="4002332"/>
            <a:ext cx="80826" cy="0"/>
          </a:xfrm>
          <a:prstGeom prst="line">
            <a:avLst/>
          </a:prstGeom>
          <a:noFill/>
          <a:ln w="15875">
            <a:solidFill>
              <a:srgbClr val="F5A623"/>
            </a:solidFill>
            <a:prstDash val="dash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9" name="Shape 117"/>
          <p:cNvSpPr/>
          <p:nvPr/>
        </p:nvSpPr>
        <p:spPr>
          <a:xfrm flipV="1">
            <a:off x="6275125" y="3718215"/>
            <a:ext cx="0" cy="284117"/>
          </a:xfrm>
          <a:prstGeom prst="line">
            <a:avLst/>
          </a:prstGeom>
          <a:noFill/>
          <a:ln w="15875">
            <a:solidFill>
              <a:srgbClr val="F5A623"/>
            </a:solidFill>
            <a:prstDash val="dash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6275126" y="3718215"/>
            <a:ext cx="80826" cy="0"/>
          </a:xfrm>
          <a:prstGeom prst="line">
            <a:avLst/>
          </a:prstGeom>
          <a:noFill/>
          <a:ln w="15875">
            <a:solidFill>
              <a:srgbClr val="F5A623"/>
            </a:solidFill>
            <a:prstDash val="dash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1" name="Shape 119"/>
          <p:cNvSpPr/>
          <p:nvPr/>
        </p:nvSpPr>
        <p:spPr>
          <a:xfrm>
            <a:off x="6355952" y="4286450"/>
            <a:ext cx="1592036" cy="303711"/>
          </a:xfrm>
          <a:prstGeom prst="roundRect">
            <a:avLst>
              <a:gd name="adj" fmla="val 11290"/>
            </a:avLst>
          </a:prstGeom>
          <a:solidFill>
            <a:srgbClr val="141C2E"/>
          </a:solidFill>
          <a:ln w="15875">
            <a:solidFill>
              <a:srgbClr val="3D7B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2" name="Text 120"/>
          <p:cNvSpPr/>
          <p:nvPr/>
        </p:nvSpPr>
        <p:spPr>
          <a:xfrm>
            <a:off x="6404938" y="4335435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36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com Base no Plano de Ensino</a:t>
            </a:r>
            <a:endParaRPr lang="pt-BR" sz="53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3" name="Text 121"/>
          <p:cNvSpPr/>
          <p:nvPr/>
        </p:nvSpPr>
        <p:spPr>
          <a:xfrm>
            <a:off x="6395140" y="4492190"/>
            <a:ext cx="1513659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estritamente no Plano de Ensino</a:t>
            </a:r>
            <a:endParaRPr lang="pt-BR" sz="42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4" name="Shape 122"/>
          <p:cNvSpPr/>
          <p:nvPr/>
        </p:nvSpPr>
        <p:spPr>
          <a:xfrm>
            <a:off x="7151970" y="4590161"/>
            <a:ext cx="0" cy="107769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5" name="Shape 123"/>
          <p:cNvSpPr/>
          <p:nvPr/>
        </p:nvSpPr>
        <p:spPr>
          <a:xfrm>
            <a:off x="6355952" y="4697929"/>
            <a:ext cx="1592036" cy="382089"/>
          </a:xfrm>
          <a:prstGeom prst="roundRect">
            <a:avLst>
              <a:gd name="adj" fmla="val 8974"/>
            </a:avLst>
          </a:prstGeom>
          <a:solidFill>
            <a:srgbClr val="141C2E"/>
          </a:solidFill>
          <a:ln w="15875">
            <a:solidFill>
              <a:srgbClr val="5B9C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6" name="Text 124"/>
          <p:cNvSpPr/>
          <p:nvPr/>
        </p:nvSpPr>
        <p:spPr>
          <a:xfrm>
            <a:off x="6404938" y="4746915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62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Opções Pós-Resposta</a:t>
            </a:r>
            <a:endParaRPr lang="pt-BR" sz="562" dirty="0">
              <a:solidFill>
                <a:prstClr val="black"/>
              </a:solidFill>
            </a:endParaRPr>
          </a:p>
        </p:txBody>
      </p:sp>
      <p:sp>
        <p:nvSpPr>
          <p:cNvPr id="127" name="Text 125"/>
          <p:cNvSpPr/>
          <p:nvPr/>
        </p:nvSpPr>
        <p:spPr>
          <a:xfrm>
            <a:off x="6395140" y="4903670"/>
            <a:ext cx="1513659" cy="146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tópico · Menu Principal · Encerrar</a:t>
            </a:r>
            <a:endParaRPr lang="pt-BR" sz="429" dirty="0">
              <a:solidFill>
                <a:prstClr val="black"/>
              </a:solidFill>
            </a:endParaRPr>
          </a:p>
        </p:txBody>
      </p:sp>
      <p:sp>
        <p:nvSpPr>
          <p:cNvPr id="128" name="Text 126"/>
          <p:cNvSpPr/>
          <p:nvPr/>
        </p:nvSpPr>
        <p:spPr>
          <a:xfrm>
            <a:off x="8094944" y="3145082"/>
            <a:ext cx="1592036" cy="24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670" b="1" dirty="0">
                <a:solidFill>
                  <a:srgbClr val="9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Encerrar Sessão</a:t>
            </a:r>
            <a:endParaRPr lang="pt-BR" sz="6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9" name="Shape 127"/>
          <p:cNvSpPr/>
          <p:nvPr/>
        </p:nvSpPr>
        <p:spPr>
          <a:xfrm>
            <a:off x="8094944" y="3414504"/>
            <a:ext cx="1592036" cy="269421"/>
          </a:xfrm>
          <a:prstGeom prst="roundRect">
            <a:avLst>
              <a:gd name="adj" fmla="val 12727"/>
            </a:avLst>
          </a:prstGeom>
          <a:solidFill>
            <a:srgbClr val="241C3D"/>
          </a:solidFill>
          <a:ln w="15875">
            <a:solidFill>
              <a:srgbClr val="9C8C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0" name="Text 128"/>
          <p:cNvSpPr/>
          <p:nvPr/>
        </p:nvSpPr>
        <p:spPr>
          <a:xfrm>
            <a:off x="8094944" y="3414504"/>
            <a:ext cx="1592036" cy="269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62" b="1" dirty="0">
                <a:solidFill>
                  <a:srgbClr val="9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Encerrar Sessão</a:t>
            </a:r>
            <a:endParaRPr lang="pt-BR" sz="56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1" name="Shape 129"/>
          <p:cNvSpPr/>
          <p:nvPr/>
        </p:nvSpPr>
        <p:spPr>
          <a:xfrm>
            <a:off x="8890962" y="3683925"/>
            <a:ext cx="0" cy="122464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2" name="Shape 130"/>
          <p:cNvSpPr/>
          <p:nvPr/>
        </p:nvSpPr>
        <p:spPr>
          <a:xfrm>
            <a:off x="8094944" y="3806390"/>
            <a:ext cx="1592036" cy="303711"/>
          </a:xfrm>
          <a:prstGeom prst="roundRect">
            <a:avLst>
              <a:gd name="adj" fmla="val 11290"/>
            </a:avLst>
          </a:prstGeom>
          <a:solidFill>
            <a:srgbClr val="141C2E"/>
          </a:solidFill>
          <a:ln w="15875">
            <a:solidFill>
              <a:srgbClr val="5B9C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8143930" y="3855375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62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de Encerramento</a:t>
            </a:r>
            <a:endParaRPr lang="pt-BR" sz="56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4" name="Text 132"/>
          <p:cNvSpPr/>
          <p:nvPr/>
        </p:nvSpPr>
        <p:spPr>
          <a:xfrm>
            <a:off x="8134133" y="4012130"/>
            <a:ext cx="1513659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 estudos!</a:t>
            </a:r>
            <a:endParaRPr lang="pt-BR" sz="42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5" name="Shape 133"/>
          <p:cNvSpPr/>
          <p:nvPr/>
        </p:nvSpPr>
        <p:spPr>
          <a:xfrm>
            <a:off x="8890962" y="4110101"/>
            <a:ext cx="0" cy="122464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8303134" y="4232566"/>
            <a:ext cx="1175657" cy="269421"/>
          </a:xfrm>
          <a:prstGeom prst="roundRect">
            <a:avLst>
              <a:gd name="adj" fmla="val 49091"/>
            </a:avLst>
          </a:prstGeom>
          <a:solidFill>
            <a:srgbClr val="241C3D"/>
          </a:solidFill>
          <a:ln w="15875">
            <a:solidFill>
              <a:srgbClr val="9C8C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7" name="Text 135"/>
          <p:cNvSpPr/>
          <p:nvPr/>
        </p:nvSpPr>
        <p:spPr>
          <a:xfrm>
            <a:off x="8303134" y="4232566"/>
            <a:ext cx="1175657" cy="269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89" b="1" dirty="0">
                <a:solidFill>
                  <a:srgbClr val="9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da Sessão</a:t>
            </a:r>
            <a:endParaRPr lang="pt-BR" sz="5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7" name="Text 19">
            <a:extLst>
              <a:ext uri="{FF2B5EF4-FFF2-40B4-BE49-F238E27FC236}">
                <a16:creationId xmlns:a16="http://schemas.microsoft.com/office/drawing/2014/main" id="{98594E86-2F67-2CF8-BD4D-8508D278CA95}"/>
              </a:ext>
            </a:extLst>
          </p:cNvPr>
          <p:cNvSpPr/>
          <p:nvPr/>
        </p:nvSpPr>
        <p:spPr>
          <a:xfrm>
            <a:off x="548640" y="64287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cuidado no processo de viver humano II  ·  UFSC</a:t>
            </a:r>
            <a:endParaRPr lang="pt-BR" sz="1000" dirty="0"/>
          </a:p>
        </p:txBody>
      </p:sp>
      <p:sp>
        <p:nvSpPr>
          <p:cNvPr id="138" name="Text 57">
            <a:extLst>
              <a:ext uri="{FF2B5EF4-FFF2-40B4-BE49-F238E27FC236}">
                <a16:creationId xmlns:a16="http://schemas.microsoft.com/office/drawing/2014/main" id="{401EFED3-AEC0-E9BD-14E5-23F2F9B489A3}"/>
              </a:ext>
            </a:extLst>
          </p:cNvPr>
          <p:cNvSpPr/>
          <p:nvPr/>
        </p:nvSpPr>
        <p:spPr>
          <a:xfrm>
            <a:off x="1145233" y="3145082"/>
            <a:ext cx="1592036" cy="24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670" b="1" dirty="0">
                <a:solidFill>
                  <a:srgbClr val="5B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⓪ Pergunta Livre</a:t>
            </a:r>
            <a:endParaRPr lang="pt-BR" sz="67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9" name="Shape 58">
            <a:extLst>
              <a:ext uri="{FF2B5EF4-FFF2-40B4-BE49-F238E27FC236}">
                <a16:creationId xmlns:a16="http://schemas.microsoft.com/office/drawing/2014/main" id="{B8F93CAF-475A-D5E2-7FA2-0CA63AEB3FF2}"/>
              </a:ext>
            </a:extLst>
          </p:cNvPr>
          <p:cNvSpPr/>
          <p:nvPr/>
        </p:nvSpPr>
        <p:spPr>
          <a:xfrm>
            <a:off x="1145233" y="3414504"/>
            <a:ext cx="1592036" cy="303711"/>
          </a:xfrm>
          <a:prstGeom prst="roundRect">
            <a:avLst>
              <a:gd name="adj" fmla="val 11290"/>
            </a:avLst>
          </a:prstGeom>
          <a:solidFill>
            <a:srgbClr val="141C2E"/>
          </a:solidFill>
          <a:ln w="15875">
            <a:solidFill>
              <a:srgbClr val="5B9C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0" name="Text 59">
            <a:extLst>
              <a:ext uri="{FF2B5EF4-FFF2-40B4-BE49-F238E27FC236}">
                <a16:creationId xmlns:a16="http://schemas.microsoft.com/office/drawing/2014/main" id="{F97AE4C4-E4BE-164D-925F-EE442E56F1E4}"/>
              </a:ext>
            </a:extLst>
          </p:cNvPr>
          <p:cNvSpPr/>
          <p:nvPr/>
        </p:nvSpPr>
        <p:spPr>
          <a:xfrm>
            <a:off x="1194219" y="3463490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62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resposta</a:t>
            </a:r>
            <a:endParaRPr lang="pt-BR" sz="56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1" name="Text 60">
            <a:extLst>
              <a:ext uri="{FF2B5EF4-FFF2-40B4-BE49-F238E27FC236}">
                <a16:creationId xmlns:a16="http://schemas.microsoft.com/office/drawing/2014/main" id="{5DFFB1A7-EC2E-2BA6-7549-CA37758F2079}"/>
              </a:ext>
            </a:extLst>
          </p:cNvPr>
          <p:cNvSpPr/>
          <p:nvPr/>
        </p:nvSpPr>
        <p:spPr>
          <a:xfrm>
            <a:off x="1184421" y="3620244"/>
            <a:ext cx="1513659" cy="7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cs typeface="Calibri" pitchFamily="34" charset="-120"/>
              </a:rPr>
              <a:t>Formato livre dependendo da pergunta feita pelo usuário</a:t>
            </a:r>
            <a:endParaRPr lang="pt-BR" sz="42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2" name="Shape 61">
            <a:extLst>
              <a:ext uri="{FF2B5EF4-FFF2-40B4-BE49-F238E27FC236}">
                <a16:creationId xmlns:a16="http://schemas.microsoft.com/office/drawing/2014/main" id="{85F24B20-39C2-3D7E-5A4A-235710EFF1C2}"/>
              </a:ext>
            </a:extLst>
          </p:cNvPr>
          <p:cNvSpPr/>
          <p:nvPr/>
        </p:nvSpPr>
        <p:spPr>
          <a:xfrm>
            <a:off x="1941251" y="3718215"/>
            <a:ext cx="0" cy="107769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4" name="Shape 73">
            <a:extLst>
              <a:ext uri="{FF2B5EF4-FFF2-40B4-BE49-F238E27FC236}">
                <a16:creationId xmlns:a16="http://schemas.microsoft.com/office/drawing/2014/main" id="{BD031D0A-E1B0-AC11-250F-9E483636509D}"/>
              </a:ext>
            </a:extLst>
          </p:cNvPr>
          <p:cNvSpPr/>
          <p:nvPr/>
        </p:nvSpPr>
        <p:spPr>
          <a:xfrm>
            <a:off x="1145233" y="3829592"/>
            <a:ext cx="1592036" cy="382089"/>
          </a:xfrm>
          <a:prstGeom prst="roundRect">
            <a:avLst>
              <a:gd name="adj" fmla="val 8974"/>
            </a:avLst>
          </a:prstGeom>
          <a:solidFill>
            <a:srgbClr val="141C2E"/>
          </a:solidFill>
          <a:ln w="15875">
            <a:solidFill>
              <a:srgbClr val="5B9CFF"/>
            </a:solidFill>
            <a:prstDash val="solid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5" name="Text 74">
            <a:extLst>
              <a:ext uri="{FF2B5EF4-FFF2-40B4-BE49-F238E27FC236}">
                <a16:creationId xmlns:a16="http://schemas.microsoft.com/office/drawing/2014/main" id="{27BDA506-FA7D-30D0-200A-24F832285A55}"/>
              </a:ext>
            </a:extLst>
          </p:cNvPr>
          <p:cNvSpPr/>
          <p:nvPr/>
        </p:nvSpPr>
        <p:spPr>
          <a:xfrm>
            <a:off x="1194219" y="3878578"/>
            <a:ext cx="1494064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489844"/>
            <a:r>
              <a:rPr lang="pt-BR" sz="562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Opções Pós-Resumo</a:t>
            </a:r>
            <a:endParaRPr lang="pt-BR" sz="56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6" name="Text 75">
            <a:extLst>
              <a:ext uri="{FF2B5EF4-FFF2-40B4-BE49-F238E27FC236}">
                <a16:creationId xmlns:a16="http://schemas.microsoft.com/office/drawing/2014/main" id="{6837A630-5388-B8AB-E5DB-41012F163050}"/>
              </a:ext>
            </a:extLst>
          </p:cNvPr>
          <p:cNvSpPr/>
          <p:nvPr/>
        </p:nvSpPr>
        <p:spPr>
          <a:xfrm>
            <a:off x="1184421" y="4035333"/>
            <a:ext cx="1513659" cy="146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89844"/>
            <a:r>
              <a:rPr lang="pt-BR" sz="429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Aprofundar · Novo tópico · Menu Principal · Encerrar</a:t>
            </a:r>
            <a:endParaRPr lang="pt-BR" sz="42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5" name="Shape 49">
            <a:extLst>
              <a:ext uri="{FF2B5EF4-FFF2-40B4-BE49-F238E27FC236}">
                <a16:creationId xmlns:a16="http://schemas.microsoft.com/office/drawing/2014/main" id="{327AAB20-F36C-FCC8-2936-8C68D5E138E1}"/>
              </a:ext>
            </a:extLst>
          </p:cNvPr>
          <p:cNvSpPr/>
          <p:nvPr/>
        </p:nvSpPr>
        <p:spPr>
          <a:xfrm>
            <a:off x="1911350" y="2889678"/>
            <a:ext cx="1762907" cy="12980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non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6" name="Shape 50">
            <a:extLst>
              <a:ext uri="{FF2B5EF4-FFF2-40B4-BE49-F238E27FC236}">
                <a16:creationId xmlns:a16="http://schemas.microsoft.com/office/drawing/2014/main" id="{6679F3E7-CCF4-443A-7F51-D2699DC69C56}"/>
              </a:ext>
            </a:extLst>
          </p:cNvPr>
          <p:cNvSpPr/>
          <p:nvPr/>
        </p:nvSpPr>
        <p:spPr>
          <a:xfrm>
            <a:off x="1921384" y="2896978"/>
            <a:ext cx="0" cy="244929"/>
          </a:xfrm>
          <a:prstGeom prst="line">
            <a:avLst/>
          </a:prstGeom>
          <a:noFill/>
          <a:ln w="19050">
            <a:solidFill>
              <a:srgbClr val="27324A"/>
            </a:solidFill>
            <a:prstDash val="solid"/>
            <a:tailEnd type="triangle"/>
          </a:ln>
        </p:spPr>
        <p:txBody>
          <a:bodyPr/>
          <a:lstStyle/>
          <a:p>
            <a:pPr defTabSz="489844"/>
            <a:endParaRPr lang="pt-BR" sz="964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</TotalTime>
  <Words>286</Words>
  <Application>Microsoft Macintosh PowerPoint</Application>
  <PresentationFormat>Widescreen</PresentationFormat>
  <Paragraphs>69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Foresto Carniel</cp:lastModifiedBy>
  <cp:revision>5</cp:revision>
  <dcterms:created xsi:type="dcterms:W3CDTF">2026-08-20T20:32:54Z</dcterms:created>
  <dcterms:modified xsi:type="dcterms:W3CDTF">2026-08-25T14:58:38Z</dcterms:modified>
</cp:coreProperties>
</file>